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5143500" cx="9144000"/>
  <p:notesSz cx="6858000" cy="9144000"/>
  <p:embeddedFontLst>
    <p:embeddedFont>
      <p:font typeface="Merriweather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1FF61ED-F6DC-473A-B814-9177092B1166}">
  <a:tblStyle styleId="{A1FF61ED-F6DC-473A-B814-9177092B116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erriweather-regular.fntdata"/><Relationship Id="rId11" Type="http://schemas.openxmlformats.org/officeDocument/2006/relationships/slide" Target="slides/slide5.xml"/><Relationship Id="rId22" Type="http://schemas.openxmlformats.org/officeDocument/2006/relationships/font" Target="fonts/Merriweather-italic.fntdata"/><Relationship Id="rId10" Type="http://schemas.openxmlformats.org/officeDocument/2006/relationships/slide" Target="slides/slide4.xml"/><Relationship Id="rId21" Type="http://schemas.openxmlformats.org/officeDocument/2006/relationships/font" Target="fonts/Merriweather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23" Type="http://schemas.openxmlformats.org/officeDocument/2006/relationships/font" Target="fonts/Merriweather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c2334ea6b3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c2334ea6b3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c27c6ef099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c27c6ef099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c2334ea6b3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c2334ea6b3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c2334ea6b3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c2334ea6b3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c2334ea6b3_1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c2334ea6b3_1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c2334ea6b3_1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c2334ea6b3_1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c2334ea6b3_1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c2334ea6b3_1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c2334ea6b3_1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c2334ea6b3_1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c2334ea6b3_1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c2334ea6b3_1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c2334ea6b3_1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c2334ea6b3_1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c2334ea6b3_2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c2334ea6b3_2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c284ab0048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c284ab0048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52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Merriweather"/>
                <a:ea typeface="Merriweather"/>
                <a:cs typeface="Merriweather"/>
                <a:sym typeface="Merriweather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bleyer.org/icarus/" TargetMode="External"/><Relationship Id="rId4" Type="http://schemas.openxmlformats.org/officeDocument/2006/relationships/hyperlink" Target="https://bleyer.org/icarus/" TargetMode="External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web.stanford.edu/class/ee183/handouts_win2003/VerilogQuickRef.pdf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web.stanford.edu/class/ee183/handouts_win2003/VerilogQuickRef.pdf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web.stanford.edu/class/ee183/handouts_win2003/VerilogQuickRef.pdf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web.stanford.edu/class/ee183/handouts_win2003/VerilogQuickRef.pdf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web.stanford.edu/class/ee183/handouts_win2003/VerilogQuickRef.pdf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hyperlink" Target="https://web.stanford.edu/class/ee183/handouts_win2003/VerilogQuickRef.pdf" TargetMode="External"/><Relationship Id="rId5" Type="http://schemas.openxmlformats.org/officeDocument/2006/relationships/hyperlink" Target="https://web.stanford.edu/class/ee183/handouts_win2003/VerilogQuickRef.pdf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www.jdoodle.com/execute-verilog-online" TargetMode="External"/><Relationship Id="rId4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www.jdoodle.com/execute-verilog-online" TargetMode="External"/><Relationship Id="rId4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app.diagrams.net" TargetMode="External"/><Relationship Id="rId4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5" Type="http://schemas.openxmlformats.org/officeDocument/2006/relationships/hyperlink" Target="https://www.jdoodle.com/execute-verilog-online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4"/>
                </a:solidFill>
              </a:rPr>
              <a:t>Verolog:</a:t>
            </a:r>
            <a:r>
              <a:rPr lang="en"/>
              <a:t> Basics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00FF"/>
                </a:solidFill>
              </a:rPr>
              <a:t>Installation</a:t>
            </a:r>
            <a:r>
              <a:rPr lang="en"/>
              <a:t>, </a:t>
            </a:r>
            <a:r>
              <a:rPr lang="en">
                <a:solidFill>
                  <a:schemeClr val="accent5"/>
                </a:solidFill>
              </a:rPr>
              <a:t>Syntax</a:t>
            </a:r>
            <a:r>
              <a:rPr lang="en"/>
              <a:t>, and </a:t>
            </a:r>
            <a:r>
              <a:rPr lang="en">
                <a:solidFill>
                  <a:schemeClr val="accent1"/>
                </a:solidFill>
              </a:rPr>
              <a:t>Examples</a:t>
            </a:r>
            <a:endParaRPr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00FF"/>
                </a:solidFill>
              </a:rPr>
              <a:t>Installing/Setting Up:</a:t>
            </a:r>
            <a:r>
              <a:rPr lang="en"/>
              <a:t> </a:t>
            </a:r>
            <a:r>
              <a:rPr lang="en"/>
              <a:t>Icarus Verilog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42603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Install and run iverilog-v12.exe from the </a:t>
            </a:r>
            <a:r>
              <a:rPr lang="en" u="sng">
                <a:solidFill>
                  <a:srgbClr val="9900FF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Icarus</a:t>
            </a:r>
            <a:r>
              <a:rPr lang="en" u="sng">
                <a:solidFill>
                  <a:srgbClr val="9900FF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Verilog</a:t>
            </a:r>
            <a:r>
              <a:rPr lang="en"/>
              <a:t> website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Accept all till ‘Additional Tasks’, select ‘Add executable folder(s) to user PATH’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Verify </a:t>
            </a:r>
            <a:r>
              <a:rPr lang="en"/>
              <a:t>installation</a:t>
            </a:r>
            <a:r>
              <a:rPr lang="en"/>
              <a:t> by opening the ‘Command Prompt’, and writing ‘iverilog’ and running, you should see the following</a:t>
            </a:r>
            <a:endParaRPr/>
          </a:p>
        </p:txBody>
      </p:sp>
      <p:grpSp>
        <p:nvGrpSpPr>
          <p:cNvPr id="62" name="Google Shape;62;p14"/>
          <p:cNvGrpSpPr/>
          <p:nvPr/>
        </p:nvGrpSpPr>
        <p:grpSpPr>
          <a:xfrm>
            <a:off x="4698818" y="1152500"/>
            <a:ext cx="1712126" cy="1816349"/>
            <a:chOff x="4715975" y="1017725"/>
            <a:chExt cx="1712126" cy="1816349"/>
          </a:xfrm>
        </p:grpSpPr>
        <p:pic>
          <p:nvPicPr>
            <p:cNvPr id="63" name="Google Shape;63;p14"/>
            <p:cNvPicPr preferRelativeResize="0"/>
            <p:nvPr/>
          </p:nvPicPr>
          <p:blipFill rotWithShape="1">
            <a:blip r:embed="rId5">
              <a:alphaModFix/>
            </a:blip>
            <a:srcRect b="0" l="0" r="59876" t="23512"/>
            <a:stretch/>
          </p:blipFill>
          <p:spPr>
            <a:xfrm>
              <a:off x="4715975" y="1017725"/>
              <a:ext cx="1712126" cy="1816349"/>
            </a:xfrm>
            <a:prstGeom prst="rect">
              <a:avLst/>
            </a:prstGeom>
            <a:noFill/>
            <a:ln cap="flat" cmpd="sng" w="19050">
              <a:solidFill>
                <a:srgbClr val="A64D79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64" name="Google Shape;64;p14"/>
            <p:cNvSpPr/>
            <p:nvPr/>
          </p:nvSpPr>
          <p:spPr>
            <a:xfrm>
              <a:off x="4925225" y="2091082"/>
              <a:ext cx="1401600" cy="75900"/>
            </a:xfrm>
            <a:prstGeom prst="rect">
              <a:avLst/>
            </a:prstGeom>
            <a:solidFill>
              <a:srgbClr val="A64D79">
                <a:alpha val="51570"/>
              </a:srgbClr>
            </a:solidFill>
            <a:ln cap="flat" cmpd="sng" w="19050">
              <a:solidFill>
                <a:srgbClr val="A64D7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5" name="Google Shape;65;p14"/>
          <p:cNvGrpSpPr/>
          <p:nvPr/>
        </p:nvGrpSpPr>
        <p:grpSpPr>
          <a:xfrm>
            <a:off x="6554875" y="1152473"/>
            <a:ext cx="2285859" cy="1816338"/>
            <a:chOff x="4724400" y="2986475"/>
            <a:chExt cx="1712126" cy="1360451"/>
          </a:xfrm>
        </p:grpSpPr>
        <p:pic>
          <p:nvPicPr>
            <p:cNvPr id="66" name="Google Shape;66;p14"/>
            <p:cNvPicPr preferRelativeResize="0"/>
            <p:nvPr/>
          </p:nvPicPr>
          <p:blipFill rotWithShape="1">
            <a:blip r:embed="rId6">
              <a:alphaModFix/>
            </a:blip>
            <a:srcRect b="32134" l="0" r="34708" t="0"/>
            <a:stretch/>
          </p:blipFill>
          <p:spPr>
            <a:xfrm>
              <a:off x="4724400" y="2986475"/>
              <a:ext cx="1712126" cy="1360451"/>
            </a:xfrm>
            <a:prstGeom prst="rect">
              <a:avLst/>
            </a:prstGeom>
            <a:noFill/>
            <a:ln cap="flat" cmpd="sng" w="19050">
              <a:solidFill>
                <a:srgbClr val="A64D79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67" name="Google Shape;67;p14"/>
            <p:cNvSpPr/>
            <p:nvPr/>
          </p:nvSpPr>
          <p:spPr>
            <a:xfrm>
              <a:off x="4925650" y="4058775"/>
              <a:ext cx="1215300" cy="109200"/>
            </a:xfrm>
            <a:prstGeom prst="rect">
              <a:avLst/>
            </a:prstGeom>
            <a:solidFill>
              <a:srgbClr val="A64D79">
                <a:alpha val="51570"/>
              </a:srgbClr>
            </a:solidFill>
            <a:ln cap="flat" cmpd="sng" w="19050">
              <a:solidFill>
                <a:srgbClr val="A64D7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2050" lIns="122050" spcFirstLastPara="1" rIns="122050" wrap="square" tIns="122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69"/>
            </a:p>
          </p:txBody>
        </p:sp>
      </p:grpSp>
      <p:pic>
        <p:nvPicPr>
          <p:cNvPr id="68" name="Google Shape;68;p1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698818" y="3147200"/>
            <a:ext cx="4141925" cy="1940925"/>
          </a:xfrm>
          <a:prstGeom prst="rect">
            <a:avLst/>
          </a:prstGeom>
          <a:noFill/>
          <a:ln cap="flat" cmpd="sng" w="19050">
            <a:solidFill>
              <a:srgbClr val="A64D79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00FF"/>
                </a:solidFill>
              </a:rPr>
              <a:t>Installing/Setting Up:</a:t>
            </a:r>
            <a:r>
              <a:rPr lang="en"/>
              <a:t> Visual Studio Code</a:t>
            </a:r>
            <a:endParaRPr/>
          </a:p>
        </p:txBody>
      </p:sp>
      <p:sp>
        <p:nvSpPr>
          <p:cNvPr id="74" name="Google Shape;74;p15"/>
          <p:cNvSpPr txBox="1"/>
          <p:nvPr>
            <p:ph idx="1" type="body"/>
          </p:nvPr>
        </p:nvSpPr>
        <p:spPr>
          <a:xfrm>
            <a:off x="311700" y="1152475"/>
            <a:ext cx="42603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Install the following VSCode </a:t>
            </a:r>
            <a:r>
              <a:rPr lang="en"/>
              <a:t>extensions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Make a folder in your ‘iverilog’ folder to store files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You can compile files by opening up a new terminal and typing the following, </a:t>
            </a:r>
            <a:r>
              <a:rPr b="1" lang="en"/>
              <a:t>iverilog -o </a:t>
            </a:r>
            <a:r>
              <a:rPr i="1" lang="en"/>
              <a:t>&lt;filename&gt;</a:t>
            </a:r>
            <a:r>
              <a:rPr b="1" lang="en"/>
              <a:t>.vvp</a:t>
            </a:r>
            <a:r>
              <a:rPr lang="en"/>
              <a:t> </a:t>
            </a:r>
            <a:r>
              <a:rPr i="1" lang="en"/>
              <a:t>&lt;filename&gt;</a:t>
            </a:r>
            <a:r>
              <a:rPr b="1" lang="en"/>
              <a:t>.v</a:t>
            </a:r>
            <a:endParaRPr b="1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You can run files by typing, </a:t>
            </a:r>
            <a:r>
              <a:rPr b="1" lang="en"/>
              <a:t>vvp</a:t>
            </a:r>
            <a:r>
              <a:rPr lang="en"/>
              <a:t> &lt;filename&gt;</a:t>
            </a:r>
            <a:r>
              <a:rPr b="1" lang="en"/>
              <a:t>.vvp</a:t>
            </a:r>
            <a:r>
              <a:rPr lang="en"/>
              <a:t>, into the terminal</a:t>
            </a:r>
            <a:endParaRPr/>
          </a:p>
        </p:txBody>
      </p:sp>
      <p:pic>
        <p:nvPicPr>
          <p:cNvPr id="75" name="Google Shape;7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73306" y="1161300"/>
            <a:ext cx="3519488" cy="990600"/>
          </a:xfrm>
          <a:prstGeom prst="rect">
            <a:avLst/>
          </a:prstGeom>
          <a:noFill/>
          <a:ln cap="flat" cmpd="sng" w="19050">
            <a:solidFill>
              <a:srgbClr val="A64D79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76" name="Google Shape;76;p15"/>
          <p:cNvGrpSpPr/>
          <p:nvPr/>
        </p:nvGrpSpPr>
        <p:grpSpPr>
          <a:xfrm>
            <a:off x="4673300" y="2295475"/>
            <a:ext cx="4267066" cy="2695625"/>
            <a:chOff x="4724400" y="2295475"/>
            <a:chExt cx="4267066" cy="2695625"/>
          </a:xfrm>
        </p:grpSpPr>
        <p:pic>
          <p:nvPicPr>
            <p:cNvPr id="77" name="Google Shape;77;p1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724400" y="2295475"/>
              <a:ext cx="4267066" cy="2695625"/>
            </a:xfrm>
            <a:prstGeom prst="rect">
              <a:avLst/>
            </a:prstGeom>
            <a:noFill/>
            <a:ln cap="flat" cmpd="sng" w="19050">
              <a:solidFill>
                <a:srgbClr val="A64D79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78" name="Google Shape;78;p15"/>
            <p:cNvSpPr/>
            <p:nvPr/>
          </p:nvSpPr>
          <p:spPr>
            <a:xfrm>
              <a:off x="4724400" y="4066500"/>
              <a:ext cx="4260300" cy="169200"/>
            </a:xfrm>
            <a:prstGeom prst="rect">
              <a:avLst/>
            </a:prstGeom>
            <a:solidFill>
              <a:srgbClr val="A64D79">
                <a:alpha val="51570"/>
              </a:srgbClr>
            </a:solidFill>
            <a:ln cap="flat" cmpd="sng" w="19050">
              <a:solidFill>
                <a:srgbClr val="A64D7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9" name="Google Shape;79;p15"/>
          <p:cNvSpPr/>
          <p:nvPr/>
        </p:nvSpPr>
        <p:spPr>
          <a:xfrm>
            <a:off x="4676700" y="2295475"/>
            <a:ext cx="4260300" cy="276300"/>
          </a:xfrm>
          <a:prstGeom prst="rect">
            <a:avLst/>
          </a:prstGeom>
          <a:solidFill>
            <a:srgbClr val="A64D79">
              <a:alpha val="51570"/>
            </a:srgbClr>
          </a:solidFill>
          <a:ln cap="flat" cmpd="sng" w="19050">
            <a:solidFill>
              <a:srgbClr val="A64D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Syntax:</a:t>
            </a:r>
            <a:r>
              <a:rPr lang="en"/>
              <a:t> Lexical Element</a:t>
            </a:r>
            <a:endParaRPr/>
          </a:p>
        </p:txBody>
      </p:sp>
      <p:graphicFrame>
        <p:nvGraphicFramePr>
          <p:cNvPr id="85" name="Google Shape;85;p16"/>
          <p:cNvGraphicFramePr/>
          <p:nvPr/>
        </p:nvGraphicFramePr>
        <p:xfrm>
          <a:off x="952500" y="1017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{A1FF61ED-F6DC-473A-B814-9177092B1166}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// </a:t>
                      </a:r>
                      <a:r>
                        <a:rPr i="1" lang="en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any text</a:t>
                      </a:r>
                      <a:endParaRPr i="1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One line comments start with // and end at the end of the line</a:t>
                      </a:r>
                      <a:endParaRPr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/*</a:t>
                      </a:r>
                      <a:endParaRPr b="1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t</a:t>
                      </a:r>
                      <a:r>
                        <a:rPr i="1" lang="en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his is all text</a:t>
                      </a:r>
                      <a:endParaRPr i="1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Even this</a:t>
                      </a:r>
                      <a:endParaRPr i="1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*/</a:t>
                      </a:r>
                      <a:endParaRPr b="1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Multi-line comments start with /* and end with */</a:t>
                      </a:r>
                      <a:endParaRPr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86" name="Google Shape;86;p16"/>
          <p:cNvSpPr txBox="1"/>
          <p:nvPr/>
        </p:nvSpPr>
        <p:spPr>
          <a:xfrm>
            <a:off x="7577400" y="4477875"/>
            <a:ext cx="1566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hlink"/>
                </a:solidFill>
                <a:latin typeface="Merriweather"/>
                <a:ea typeface="Merriweather"/>
                <a:cs typeface="Merriweather"/>
                <a:sym typeface="Merriweather"/>
                <a:hlinkClick r:id="rId3"/>
              </a:rPr>
              <a:t>Additional Information</a:t>
            </a:r>
            <a:endParaRPr sz="1800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Syntax:</a:t>
            </a:r>
            <a:r>
              <a:rPr lang="en"/>
              <a:t> </a:t>
            </a:r>
            <a:r>
              <a:rPr lang="en"/>
              <a:t>Integer Literals</a:t>
            </a:r>
            <a:endParaRPr/>
          </a:p>
        </p:txBody>
      </p:sp>
      <p:graphicFrame>
        <p:nvGraphicFramePr>
          <p:cNvPr id="92" name="Google Shape;92;p17"/>
          <p:cNvGraphicFramePr/>
          <p:nvPr/>
        </p:nvGraphicFramePr>
        <p:xfrm>
          <a:off x="952500" y="1017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{A1FF61ED-F6DC-473A-B814-9177092B1166}</a:tableStyleId>
              </a:tblPr>
              <a:tblGrid>
                <a:gridCol w="3619500"/>
                <a:gridCol w="3619500"/>
              </a:tblGrid>
              <a:tr h="372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2’b</a:t>
                      </a:r>
                      <a:r>
                        <a:rPr i="1" lang="en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10 - 2</a:t>
                      </a:r>
                      <a:endParaRPr i="1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Binary literal</a:t>
                      </a:r>
                      <a:endParaRPr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2’O</a:t>
                      </a:r>
                      <a:r>
                        <a:rPr i="1" lang="en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27 - 23</a:t>
                      </a:r>
                      <a:endParaRPr i="1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Octal literal</a:t>
                      </a:r>
                      <a:endParaRPr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9</a:t>
                      </a:r>
                      <a:r>
                        <a:rPr lang="en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 or</a:t>
                      </a:r>
                      <a:r>
                        <a:rPr b="1" lang="en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 ‘d</a:t>
                      </a:r>
                      <a:r>
                        <a:rPr i="1" lang="en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9 - 9</a:t>
                      </a:r>
                      <a:endParaRPr i="1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Decimal literal</a:t>
                      </a:r>
                      <a:endParaRPr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3’h</a:t>
                      </a:r>
                      <a:r>
                        <a:rPr i="1" lang="en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1A5 - 421</a:t>
                      </a:r>
                      <a:endParaRPr i="1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Hexadecimal</a:t>
                      </a:r>
                      <a:r>
                        <a:rPr lang="en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 literal</a:t>
                      </a:r>
                      <a:endParaRPr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93" name="Google Shape;93;p17"/>
          <p:cNvSpPr txBox="1"/>
          <p:nvPr/>
        </p:nvSpPr>
        <p:spPr>
          <a:xfrm>
            <a:off x="7577400" y="4477875"/>
            <a:ext cx="1566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hlink"/>
                </a:solidFill>
                <a:latin typeface="Merriweather"/>
                <a:ea typeface="Merriweather"/>
                <a:cs typeface="Merriweather"/>
                <a:sym typeface="Merriweather"/>
                <a:hlinkClick r:id="rId3"/>
              </a:rPr>
              <a:t>Additional Information</a:t>
            </a:r>
            <a:endParaRPr sz="1800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Syntax:</a:t>
            </a:r>
            <a:r>
              <a:rPr lang="en"/>
              <a:t> </a:t>
            </a:r>
            <a:r>
              <a:rPr lang="en"/>
              <a:t>Registers and Nets</a:t>
            </a:r>
            <a:endParaRPr/>
          </a:p>
        </p:txBody>
      </p:sp>
      <p:graphicFrame>
        <p:nvGraphicFramePr>
          <p:cNvPr id="99" name="Google Shape;99;p18"/>
          <p:cNvGraphicFramePr/>
          <p:nvPr/>
        </p:nvGraphicFramePr>
        <p:xfrm>
          <a:off x="952500" y="1017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{A1FF61ED-F6DC-473A-B814-9177092B1166}</a:tableStyleId>
              </a:tblPr>
              <a:tblGrid>
                <a:gridCol w="3619500"/>
                <a:gridCol w="3619500"/>
              </a:tblGrid>
              <a:tr h="372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reg [</a:t>
                      </a:r>
                      <a:r>
                        <a:rPr i="1" lang="en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5:0</a:t>
                      </a:r>
                      <a:r>
                        <a:rPr b="1" lang="en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] </a:t>
                      </a:r>
                      <a:r>
                        <a:rPr i="1" lang="en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din;</a:t>
                      </a:r>
                      <a:endParaRPr i="1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1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reg </a:t>
                      </a:r>
                      <a:r>
                        <a:rPr b="1" i="1" lang="en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[</a:t>
                      </a:r>
                      <a:r>
                        <a:rPr i="1" lang="en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15:0</a:t>
                      </a:r>
                      <a:r>
                        <a:rPr b="1" i="1" lang="en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]</a:t>
                      </a:r>
                      <a:r>
                        <a:rPr i="1" lang="en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 mem16X512 </a:t>
                      </a:r>
                      <a:r>
                        <a:rPr b="1" i="1" lang="en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[</a:t>
                      </a:r>
                      <a:r>
                        <a:rPr i="1" lang="en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0:511</a:t>
                      </a:r>
                      <a:r>
                        <a:rPr b="1" i="1" lang="en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]</a:t>
                      </a:r>
                      <a:r>
                        <a:rPr i="1" lang="en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; </a:t>
                      </a:r>
                      <a:endParaRPr i="1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// 16-bit, 512 rows</a:t>
                      </a:r>
                      <a:endParaRPr i="1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// </a:t>
                      </a:r>
                      <a:r>
                        <a:rPr i="1" lang="en">
                          <a:solidFill>
                            <a:schemeClr val="dk1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mem16X512[4] addresses word 4</a:t>
                      </a:r>
                      <a:endParaRPr i="1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A 6-bit vector register: individual bits din[5],.... </a:t>
                      </a:r>
                      <a:r>
                        <a:rPr lang="en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d</a:t>
                      </a:r>
                      <a:r>
                        <a:rPr lang="en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in[0].</a:t>
                      </a:r>
                      <a:endParaRPr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A register stores its value from one assignment to the next and is used to model data storage elements.</a:t>
                      </a:r>
                      <a:endParaRPr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wire </a:t>
                      </a:r>
                      <a:r>
                        <a:rPr i="1" lang="en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net1;</a:t>
                      </a:r>
                      <a:endParaRPr i="1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/*</a:t>
                      </a:r>
                      <a:endParaRPr i="1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The default range of a wire or reg is one bit</a:t>
                      </a:r>
                      <a:endParaRPr i="1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*/</a:t>
                      </a:r>
                      <a:endParaRPr i="1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Nets correspond to physical wires that connect instances.</a:t>
                      </a:r>
                      <a:endParaRPr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Nets do not store values and have to be continuously driven.</a:t>
                      </a:r>
                      <a:endParaRPr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00" name="Google Shape;100;p18"/>
          <p:cNvSpPr txBox="1"/>
          <p:nvPr/>
        </p:nvSpPr>
        <p:spPr>
          <a:xfrm>
            <a:off x="7577400" y="4477875"/>
            <a:ext cx="1566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hlink"/>
                </a:solidFill>
                <a:latin typeface="Merriweather"/>
                <a:ea typeface="Merriweather"/>
                <a:cs typeface="Merriweather"/>
                <a:sym typeface="Merriweather"/>
                <a:hlinkClick r:id="rId3"/>
              </a:rPr>
              <a:t>Additional Information</a:t>
            </a:r>
            <a:endParaRPr sz="1800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Syntax:</a:t>
            </a:r>
            <a:r>
              <a:rPr lang="en"/>
              <a:t> </a:t>
            </a:r>
            <a:r>
              <a:rPr lang="en"/>
              <a:t>Compiler Directives</a:t>
            </a:r>
            <a:endParaRPr/>
          </a:p>
        </p:txBody>
      </p:sp>
      <p:graphicFrame>
        <p:nvGraphicFramePr>
          <p:cNvPr id="106" name="Google Shape;106;p19"/>
          <p:cNvGraphicFramePr/>
          <p:nvPr/>
        </p:nvGraphicFramePr>
        <p:xfrm>
          <a:off x="952500" y="1017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{A1FF61ED-F6DC-473A-B814-9177092B1166}</a:tableStyleId>
              </a:tblPr>
              <a:tblGrid>
                <a:gridCol w="3619500"/>
                <a:gridCol w="3619500"/>
              </a:tblGrid>
              <a:tr h="372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‘define </a:t>
                      </a:r>
                      <a:r>
                        <a:rPr i="1" lang="en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OPCODEADD 00010</a:t>
                      </a:r>
                      <a:endParaRPr i="1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Text-macro substitution</a:t>
                      </a:r>
                      <a:endParaRPr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`include</a:t>
                      </a:r>
                      <a:r>
                        <a:rPr i="1" lang="en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 &lt;Verilog file&gt;</a:t>
                      </a:r>
                      <a:endParaRPr i="1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File inclusion</a:t>
                      </a:r>
                      <a:endParaRPr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‘</a:t>
                      </a:r>
                      <a:r>
                        <a:rPr b="1" i="1" lang="en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timescale</a:t>
                      </a:r>
                      <a:r>
                        <a:rPr i="1" lang="en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 1ns / 10ps </a:t>
                      </a:r>
                      <a:endParaRPr i="1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Specifies time unit/precision</a:t>
                      </a:r>
                      <a:endParaRPr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`ifdef </a:t>
                      </a:r>
                      <a:r>
                        <a:rPr i="1" lang="en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SYNTH  </a:t>
                      </a:r>
                      <a:r>
                        <a:rPr i="1" lang="en">
                          <a:solidFill>
                            <a:schemeClr val="dk1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&lt;Verilog Code&gt; </a:t>
                      </a:r>
                      <a:r>
                        <a:rPr b="1" i="1" lang="en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‘endif</a:t>
                      </a:r>
                      <a:endParaRPr b="1" i="1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T</a:t>
                      </a:r>
                      <a:r>
                        <a:rPr lang="en">
                          <a:solidFill>
                            <a:schemeClr val="dk1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ext-macro substitution with code</a:t>
                      </a:r>
                      <a:endParaRPr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07" name="Google Shape;107;p19"/>
          <p:cNvSpPr txBox="1"/>
          <p:nvPr/>
        </p:nvSpPr>
        <p:spPr>
          <a:xfrm>
            <a:off x="7577400" y="4477875"/>
            <a:ext cx="1566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hlink"/>
                </a:solidFill>
                <a:latin typeface="Merriweather"/>
                <a:ea typeface="Merriweather"/>
                <a:cs typeface="Merriweather"/>
                <a:sym typeface="Merriweather"/>
                <a:hlinkClick r:id="rId3"/>
              </a:rPr>
              <a:t>Additional Information</a:t>
            </a:r>
            <a:endParaRPr sz="1800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Syntax:</a:t>
            </a:r>
            <a:r>
              <a:rPr lang="en"/>
              <a:t> </a:t>
            </a:r>
            <a:r>
              <a:rPr lang="en"/>
              <a:t>System Tasks and Functions</a:t>
            </a:r>
            <a:endParaRPr/>
          </a:p>
        </p:txBody>
      </p:sp>
      <p:graphicFrame>
        <p:nvGraphicFramePr>
          <p:cNvPr id="113" name="Google Shape;113;p20"/>
          <p:cNvGraphicFramePr/>
          <p:nvPr/>
        </p:nvGraphicFramePr>
        <p:xfrm>
          <a:off x="952500" y="1017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{A1FF61ED-F6DC-473A-B814-9177092B1166}</a:tableStyleId>
              </a:tblPr>
              <a:tblGrid>
                <a:gridCol w="3619500"/>
                <a:gridCol w="3619500"/>
              </a:tblGrid>
              <a:tr h="372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$display, $write </a:t>
                      </a:r>
                      <a:endParaRPr i="1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Utility to display information</a:t>
                      </a:r>
                      <a:endParaRPr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$fdisplay, $fwrite</a:t>
                      </a:r>
                      <a:endParaRPr i="1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Write to file</a:t>
                      </a:r>
                      <a:endParaRPr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$monitor, $fmonitor</a:t>
                      </a:r>
                      <a:endParaRPr b="1" i="1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Monitor, display/write information to file</a:t>
                      </a:r>
                      <a:endParaRPr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$finish, $Stop</a:t>
                      </a:r>
                      <a:endParaRPr b="1" i="1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Exit the simulator, Stop the simulator</a:t>
                      </a:r>
                      <a:endParaRPr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14" name="Google Shape;114;p20"/>
          <p:cNvSpPr txBox="1"/>
          <p:nvPr/>
        </p:nvSpPr>
        <p:spPr>
          <a:xfrm>
            <a:off x="7577400" y="4477875"/>
            <a:ext cx="1566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hlink"/>
                </a:solidFill>
                <a:latin typeface="Merriweather"/>
                <a:ea typeface="Merriweather"/>
                <a:cs typeface="Merriweather"/>
                <a:sym typeface="Merriweather"/>
                <a:hlinkClick r:id="rId3"/>
              </a:rPr>
              <a:t>Additional Information</a:t>
            </a:r>
            <a:endParaRPr sz="1800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Syntax:</a:t>
            </a:r>
            <a:r>
              <a:rPr lang="en"/>
              <a:t> </a:t>
            </a:r>
            <a:r>
              <a:rPr lang="en"/>
              <a:t>Reserved Keywords</a:t>
            </a:r>
            <a:endParaRPr/>
          </a:p>
        </p:txBody>
      </p:sp>
      <p:pic>
        <p:nvPicPr>
          <p:cNvPr id="120" name="Google Shape;12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75950" y="1017725"/>
            <a:ext cx="3992100" cy="3322725"/>
          </a:xfrm>
          <a:prstGeom prst="rect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21" name="Google Shape;121;p21"/>
          <p:cNvSpPr txBox="1"/>
          <p:nvPr/>
        </p:nvSpPr>
        <p:spPr>
          <a:xfrm>
            <a:off x="7577400" y="4477875"/>
            <a:ext cx="1566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hlink"/>
                </a:solidFill>
                <a:latin typeface="Merriweather"/>
                <a:ea typeface="Merriweather"/>
                <a:cs typeface="Merriweather"/>
                <a:sym typeface="Merriweather"/>
                <a:hlinkClick r:id="rId4"/>
              </a:rPr>
              <a:t>Additional</a:t>
            </a:r>
            <a:r>
              <a:rPr lang="en" sz="1800" u="sng">
                <a:solidFill>
                  <a:schemeClr val="hlink"/>
                </a:solidFill>
                <a:latin typeface="Merriweather"/>
                <a:ea typeface="Merriweather"/>
                <a:cs typeface="Merriweather"/>
                <a:sym typeface="Merriweather"/>
                <a:hlinkClick r:id="rId5"/>
              </a:rPr>
              <a:t> Information</a:t>
            </a:r>
            <a:endParaRPr sz="1800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Example:</a:t>
            </a:r>
            <a:r>
              <a:rPr lang="en"/>
              <a:t> Logic Module</a:t>
            </a:r>
            <a:endParaRPr/>
          </a:p>
        </p:txBody>
      </p:sp>
      <p:sp>
        <p:nvSpPr>
          <p:cNvPr id="127" name="Google Shape;127;p22"/>
          <p:cNvSpPr txBox="1"/>
          <p:nvPr/>
        </p:nvSpPr>
        <p:spPr>
          <a:xfrm>
            <a:off x="7860000" y="4504526"/>
            <a:ext cx="12840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Online Compiler</a:t>
            </a:r>
            <a:endParaRPr sz="1800">
              <a:solidFill>
                <a:schemeClr val="accen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128" name="Google Shape;128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4400" y="1059100"/>
            <a:ext cx="7555201" cy="3404050"/>
          </a:xfrm>
          <a:prstGeom prst="rect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Example:</a:t>
            </a:r>
            <a:r>
              <a:rPr lang="en"/>
              <a:t> Testbench Module</a:t>
            </a:r>
            <a:endParaRPr/>
          </a:p>
        </p:txBody>
      </p:sp>
      <p:sp>
        <p:nvSpPr>
          <p:cNvPr id="134" name="Google Shape;134;p23"/>
          <p:cNvSpPr txBox="1"/>
          <p:nvPr/>
        </p:nvSpPr>
        <p:spPr>
          <a:xfrm>
            <a:off x="7860000" y="4504526"/>
            <a:ext cx="12840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Online Compiler</a:t>
            </a:r>
            <a:endParaRPr sz="1800">
              <a:solidFill>
                <a:schemeClr val="accen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135" name="Google Shape;135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1017725"/>
            <a:ext cx="7548300" cy="3998000"/>
          </a:xfrm>
          <a:prstGeom prst="rect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Example:</a:t>
            </a:r>
            <a:r>
              <a:rPr lang="en"/>
              <a:t> State Machine</a:t>
            </a:r>
            <a:endParaRPr/>
          </a:p>
        </p:txBody>
      </p:sp>
      <p:sp>
        <p:nvSpPr>
          <p:cNvPr id="141" name="Google Shape;141;p24"/>
          <p:cNvSpPr txBox="1"/>
          <p:nvPr/>
        </p:nvSpPr>
        <p:spPr>
          <a:xfrm>
            <a:off x="7860000" y="4504526"/>
            <a:ext cx="12840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Diagram Maker</a:t>
            </a:r>
            <a:endParaRPr sz="1800">
              <a:solidFill>
                <a:schemeClr val="accen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42" name="Google Shape;142;p24"/>
          <p:cNvSpPr/>
          <p:nvPr/>
        </p:nvSpPr>
        <p:spPr>
          <a:xfrm>
            <a:off x="3027525" y="1052675"/>
            <a:ext cx="2154300" cy="1278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4"/>
          <p:cNvSpPr/>
          <p:nvPr/>
        </p:nvSpPr>
        <p:spPr>
          <a:xfrm>
            <a:off x="3027525" y="2330875"/>
            <a:ext cx="2154300" cy="211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4" name="Google Shape;144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6425" y="1017726"/>
            <a:ext cx="8051148" cy="3414651"/>
          </a:xfrm>
          <a:prstGeom prst="rect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>
                <a:solidFill>
                  <a:schemeClr val="accent1"/>
                </a:solidFill>
              </a:rPr>
              <a:t>Example:</a:t>
            </a:r>
            <a:r>
              <a:rPr lang="en"/>
              <a:t> State Machine Module</a:t>
            </a:r>
            <a:endParaRPr/>
          </a:p>
        </p:txBody>
      </p:sp>
      <p:pic>
        <p:nvPicPr>
          <p:cNvPr id="150" name="Google Shape;15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22500"/>
            <a:ext cx="4260300" cy="3382026"/>
          </a:xfrm>
          <a:prstGeom prst="rect">
            <a:avLst/>
          </a:prstGeom>
          <a:noFill/>
          <a:ln cap="flat" cmpd="sng" w="20050">
            <a:solidFill>
              <a:srgbClr val="A64D79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51" name="Google Shape;151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77625" y="1122500"/>
            <a:ext cx="3954674" cy="3382024"/>
          </a:xfrm>
          <a:prstGeom prst="rect">
            <a:avLst/>
          </a:prstGeom>
          <a:noFill/>
          <a:ln cap="flat" cmpd="sng" w="20050">
            <a:solidFill>
              <a:srgbClr val="A64D79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52" name="Google Shape;152;p25"/>
          <p:cNvSpPr txBox="1"/>
          <p:nvPr/>
        </p:nvSpPr>
        <p:spPr>
          <a:xfrm>
            <a:off x="7860000" y="4504526"/>
            <a:ext cx="12840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Online Compiler</a:t>
            </a:r>
            <a:endParaRPr sz="1800">
              <a:solidFill>
                <a:schemeClr val="accen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