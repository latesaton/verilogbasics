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Merriweather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erriweather-bold.fntdata"/><Relationship Id="rId10" Type="http://schemas.openxmlformats.org/officeDocument/2006/relationships/font" Target="fonts/Merriweather-regular.fntdata"/><Relationship Id="rId13" Type="http://schemas.openxmlformats.org/officeDocument/2006/relationships/font" Target="fonts/Merriweather-boldItalic.fntdata"/><Relationship Id="rId12" Type="http://schemas.openxmlformats.org/officeDocument/2006/relationships/font" Target="fonts/Merriweath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05ff84bd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05ff84bd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05ff84bd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05ff84bd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05ff84bd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05ff84bd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xilinx.com/support/download.html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Digilent/digilent-xdc/blob/master/Basys-3-Master.xdc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886890" y="870275"/>
            <a:ext cx="3370200" cy="287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Merriweather"/>
                <a:ea typeface="Merriweather"/>
                <a:cs typeface="Merriweather"/>
                <a:sym typeface="Merriweather"/>
              </a:rPr>
              <a:t>Vivado Setup Tutorial</a:t>
            </a:r>
            <a:endParaRPr sz="60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241340" y="3745825"/>
            <a:ext cx="26613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By Layth Jacob Sattam</a:t>
            </a:r>
            <a:endParaRPr sz="18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987709">
            <a:off x="7243188" y="2499494"/>
            <a:ext cx="3742868" cy="3742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904844">
            <a:off x="-1492949" y="-813041"/>
            <a:ext cx="2587227" cy="2587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https://www.xilinx.com/support/download.html</a:t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6450" y="-37800"/>
            <a:ext cx="4077550" cy="5181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0672" y="1558778"/>
            <a:ext cx="2929775" cy="292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379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https://github.com/Digilent/digilent-xdc/blob/master/Basys-3-Master.xdc</a:t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8500" y="152400"/>
            <a:ext cx="454192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To Design: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1256425" y="1758600"/>
            <a:ext cx="672900" cy="672900"/>
          </a:xfrm>
          <a:prstGeom prst="rect">
            <a:avLst/>
          </a:prstGeom>
          <a:solidFill>
            <a:srgbClr val="666666">
              <a:alpha val="56860"/>
            </a:srgbClr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latin typeface="Merriweather"/>
                <a:ea typeface="Merriweather"/>
                <a:cs typeface="Merriweather"/>
                <a:sym typeface="Merriweather"/>
              </a:rPr>
              <a:t>0</a:t>
            </a:r>
            <a:endParaRPr b="1"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3351625" y="1758600"/>
            <a:ext cx="672900" cy="672900"/>
          </a:xfrm>
          <a:prstGeom prst="rect">
            <a:avLst/>
          </a:prstGeom>
          <a:solidFill>
            <a:srgbClr val="666666">
              <a:alpha val="56860"/>
            </a:srgbClr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latin typeface="Merriweather"/>
                <a:ea typeface="Merriweather"/>
                <a:cs typeface="Merriweather"/>
                <a:sym typeface="Merriweather"/>
              </a:rPr>
              <a:t>1</a:t>
            </a:r>
            <a:endParaRPr b="1"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5446825" y="1758600"/>
            <a:ext cx="672900" cy="672900"/>
          </a:xfrm>
          <a:prstGeom prst="rect">
            <a:avLst/>
          </a:prstGeom>
          <a:solidFill>
            <a:srgbClr val="666666">
              <a:alpha val="56860"/>
            </a:srgbClr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latin typeface="Merriweather"/>
                <a:ea typeface="Merriweather"/>
                <a:cs typeface="Merriweather"/>
                <a:sym typeface="Merriweather"/>
              </a:rPr>
              <a:t>2</a:t>
            </a:r>
            <a:endParaRPr b="1"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7584550" y="1758600"/>
            <a:ext cx="672900" cy="672900"/>
          </a:xfrm>
          <a:prstGeom prst="rect">
            <a:avLst/>
          </a:prstGeom>
          <a:solidFill>
            <a:srgbClr val="666666">
              <a:alpha val="56860"/>
            </a:srgbClr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latin typeface="Merriweather"/>
                <a:ea typeface="Merriweather"/>
                <a:cs typeface="Merriweather"/>
                <a:sym typeface="Merriweather"/>
              </a:rPr>
              <a:t>3</a:t>
            </a:r>
            <a:endParaRPr b="1" sz="4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0" y="2431500"/>
            <a:ext cx="12696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Input(s):</a:t>
            </a:r>
            <a:endParaRPr sz="18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</a:t>
            </a:r>
            <a:r>
              <a:rPr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lk, 1’b</a:t>
            </a:r>
            <a:endParaRPr sz="18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A, 1’b</a:t>
            </a:r>
            <a:endParaRPr sz="18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Output:</a:t>
            </a:r>
            <a:endParaRPr sz="18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l</a:t>
            </a:r>
            <a:r>
              <a:rPr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ed, 8’b</a:t>
            </a:r>
            <a:endParaRPr sz="18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Variables:</a:t>
            </a:r>
            <a:endParaRPr sz="18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Cnt, 8’b</a:t>
            </a:r>
            <a:endParaRPr sz="18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cxnSp>
        <p:nvCxnSpPr>
          <p:cNvPr id="81" name="Google Shape;81;p16"/>
          <p:cNvCxnSpPr>
            <a:stCxn id="76" idx="3"/>
            <a:endCxn id="77" idx="1"/>
          </p:cNvCxnSpPr>
          <p:nvPr/>
        </p:nvCxnSpPr>
        <p:spPr>
          <a:xfrm>
            <a:off x="1929325" y="2095050"/>
            <a:ext cx="1422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p16"/>
          <p:cNvCxnSpPr>
            <a:stCxn id="77" idx="3"/>
            <a:endCxn id="78" idx="1"/>
          </p:cNvCxnSpPr>
          <p:nvPr/>
        </p:nvCxnSpPr>
        <p:spPr>
          <a:xfrm>
            <a:off x="4024525" y="2095050"/>
            <a:ext cx="1422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" name="Google Shape;83;p16"/>
          <p:cNvCxnSpPr>
            <a:stCxn id="78" idx="3"/>
            <a:endCxn id="79" idx="1"/>
          </p:cNvCxnSpPr>
          <p:nvPr/>
        </p:nvCxnSpPr>
        <p:spPr>
          <a:xfrm>
            <a:off x="6119725" y="2095050"/>
            <a:ext cx="1464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6"/>
          <p:cNvCxnSpPr>
            <a:endCxn id="76" idx="2"/>
          </p:cNvCxnSpPr>
          <p:nvPr/>
        </p:nvCxnSpPr>
        <p:spPr>
          <a:xfrm flipH="1">
            <a:off x="1592875" y="2430900"/>
            <a:ext cx="6328200" cy="600"/>
          </a:xfrm>
          <a:prstGeom prst="curvedConnector4">
            <a:avLst>
              <a:gd fmla="val 3546" name="adj1"/>
              <a:gd fmla="val 3059875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" name="Google Shape;85;p16"/>
          <p:cNvSpPr txBox="1"/>
          <p:nvPr/>
        </p:nvSpPr>
        <p:spPr>
          <a:xfrm>
            <a:off x="2319125" y="1633350"/>
            <a:ext cx="42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endParaRPr sz="18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3534469" y="1020300"/>
            <a:ext cx="2202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!</a:t>
            </a:r>
            <a:r>
              <a:rPr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 &amp; </a:t>
            </a:r>
            <a:endParaRPr sz="18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Cnt == 0xFF</a:t>
            </a:r>
            <a:endParaRPr sz="18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6581323" y="1633350"/>
            <a:ext cx="42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endParaRPr sz="18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4773475" y="3642525"/>
            <a:ext cx="42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!</a:t>
            </a:r>
            <a:r>
              <a:rPr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endParaRPr sz="18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cxnSp>
        <p:nvCxnSpPr>
          <p:cNvPr id="89" name="Google Shape;89;p16"/>
          <p:cNvCxnSpPr>
            <a:stCxn id="77" idx="3"/>
            <a:endCxn id="77" idx="2"/>
          </p:cNvCxnSpPr>
          <p:nvPr/>
        </p:nvCxnSpPr>
        <p:spPr>
          <a:xfrm flipH="1">
            <a:off x="3688225" y="2095050"/>
            <a:ext cx="336300" cy="336600"/>
          </a:xfrm>
          <a:prstGeom prst="curvedConnector4">
            <a:avLst>
              <a:gd fmla="val -70807" name="adj1"/>
              <a:gd fmla="val 1707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" name="Google Shape;90;p16"/>
          <p:cNvCxnSpPr>
            <a:stCxn id="78" idx="3"/>
            <a:endCxn id="78" idx="2"/>
          </p:cNvCxnSpPr>
          <p:nvPr/>
        </p:nvCxnSpPr>
        <p:spPr>
          <a:xfrm flipH="1">
            <a:off x="5783425" y="2095050"/>
            <a:ext cx="336300" cy="336600"/>
          </a:xfrm>
          <a:prstGeom prst="curvedConnector4">
            <a:avLst>
              <a:gd fmla="val -70807" name="adj1"/>
              <a:gd fmla="val 1707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" name="Google Shape;91;p16"/>
          <p:cNvCxnSpPr>
            <a:stCxn id="79" idx="3"/>
            <a:endCxn id="79" idx="0"/>
          </p:cNvCxnSpPr>
          <p:nvPr/>
        </p:nvCxnSpPr>
        <p:spPr>
          <a:xfrm rot="10800000">
            <a:off x="7921150" y="1758750"/>
            <a:ext cx="336300" cy="336300"/>
          </a:xfrm>
          <a:prstGeom prst="curvedConnector4">
            <a:avLst>
              <a:gd fmla="val -70807" name="adj1"/>
              <a:gd fmla="val 170852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" name="Google Shape;92;p16"/>
          <p:cNvCxnSpPr>
            <a:stCxn id="76" idx="3"/>
            <a:endCxn id="76" idx="0"/>
          </p:cNvCxnSpPr>
          <p:nvPr/>
        </p:nvCxnSpPr>
        <p:spPr>
          <a:xfrm rot="10800000">
            <a:off x="1593025" y="1758750"/>
            <a:ext cx="336300" cy="336300"/>
          </a:xfrm>
          <a:prstGeom prst="curvedConnector4">
            <a:avLst>
              <a:gd fmla="val -70807" name="adj1"/>
              <a:gd fmla="val 170852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" name="Google Shape;93;p16"/>
          <p:cNvCxnSpPr>
            <a:endCxn id="76" idx="1"/>
          </p:cNvCxnSpPr>
          <p:nvPr/>
        </p:nvCxnSpPr>
        <p:spPr>
          <a:xfrm flipH="1" rot="-5400000">
            <a:off x="427975" y="1266600"/>
            <a:ext cx="913500" cy="743400"/>
          </a:xfrm>
          <a:prstGeom prst="curvedConnector2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" name="Google Shape;94;p16"/>
          <p:cNvSpPr txBox="1"/>
          <p:nvPr/>
        </p:nvSpPr>
        <p:spPr>
          <a:xfrm>
            <a:off x="1815775" y="2431500"/>
            <a:ext cx="2095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L</a:t>
            </a:r>
            <a:r>
              <a:rPr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ed = 0xFF</a:t>
            </a:r>
            <a:endParaRPr sz="18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Cnt = 0x00</a:t>
            </a:r>
            <a:endParaRPr sz="18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3849075" y="2571750"/>
            <a:ext cx="2095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Led = </a:t>
            </a:r>
            <a:r>
              <a:rPr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Cnt </a:t>
            </a:r>
            <a:endParaRPr sz="18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Cnt += 1</a:t>
            </a:r>
            <a:endParaRPr sz="18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5736775" y="27103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Led = 0x55</a:t>
            </a:r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7933136" y="2517477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Led = 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